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【0:00】あいさつ。
・本日は90分。予習は不要、手ぶらで来ていただいて大丈夫だとまず伝える。
・この研修のゴールは『今日中に、あなたが担当できる講座を決めること』。
・終わったら、選んだ講座の資料だけをお渡しします、と先に言っておく（負担感を下げる）。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【0:00-0:05】ここが今日いちばん大事なスライド。ゆっくり読む。
・机上の説明が多い研修は初めて、という方がほとんど。不安を先に取り除く。
・『説明は資料どおり／実技はお任せ』の役割分担をはっきり口に出す。
・反応が固いようなら、言い方を変えてもう一度伝える。
【ヒアリング】普段の指導内容／得意な種目・分野／対面・オンラインの経験／人前で話した経験。
→ 聞き取った内容は記録シートに記入する。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【0:03】流れを1枚で見せる。
・座学は前半で終わり、後半30分は実際にやってもらう時間だと予告しておく。
・『最後に担当講座を決めます』をここでもう一度言う。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【0:05】ここから13分。
・民間のレッスンではなく、県の事業であることを理解してもらうパート。
・細かい制度の話は最小限にし、『やってはいけないこと』に時間を使う。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【0:06】
・受講者（企業の社員）は、自分から申し込んだわけではない人も多い。だから『自分ごと化』の入口が要る。
・企業は無料。受講者から一切お金をいただかない事業であることを、次のスライドにつなぐ。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【0:08】数字は4つだけ覚えてもらえればよい。
・2時間／3回まで／10講座／KPI60%。
・『個別質疑応答は必須』はここで一度触れ、当日実務のパートで再度出す。
・遠方でも断れない点は、スケジュール調整のときに効いてくるので触れておく。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【0:10】ここは飛ばさない。事業全体のリスクに直結する。
・ケースで聞く：『受講者から、先生のジムはどこですかと聞かれたら？』
  → 会社名・施設名を答えるのは構わないが、勧誘・案内はしない。判断に迷えば事務局へ。
・ケースで聞く：『企業から、追加でパーソナルをお願いしたいと言われたら？』
  → その場で受けない。事務局に必ず戻す。
・この3つは数日後のチェックでも必ず確認すると予告する。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【0:13】
・アンケートを『面倒な事務』と捉えると回収率が落ちる。成果指標そのものだと位置づけを変える。
・回収のコツ（終了前に時間を取る／持ち帰らせない）は実務パートでも再度触れる。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【0:15】答えを見せる前に、1問ずつ口頭で聞く（スライドは答えが出ているので、必要なら答えを隠して読み上げる）。
・間違えた問題は、その場でもう一度説明する。
・記録シートに、間違えた問題番号を控えておく（数日後のチェックで重点確認する）。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【0:18】ここから15分。
・目的は『覚えること』ではなく『選ぶこと』。最初にそう宣言する。
・10講座すべてを担当する必要はまったくない、2〜3講座でも十分だと伝える。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【0:19】
・区分ごとの性格の違いを先に伝えると、この後の一覧が頭に入りやすい。
・イ（食生活）は資格・知識の要件があるため、担当できるかを必ず確認する。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【0:21】1講座あたり60〜90秒。内容の詳細には入らない。
・伝えるのは『誰向けか・何分か・実技はどのくらいか・何が要るか』の4点だけ。
・講座3はオンライン限定・5日連続。同じ時間帯を5日押さえられるかを確認する。
・講座4・5は栄養の知識が必要。資格の有無をここで確認し、記録シートに記入する。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【0:25】
・6・7は『測定と個別フィードバック』が中心。集団への講義とは進め方が違うと補足する。
・10は本人の希望・適性を尊重する。無理に勧めない。
・ひととおり説明したら、次のワークへ移る。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【0:29】シートを渡して3分取る。
・黙って待たず、迷っている講座があれば声をかけて理由を聞く。
・『説明が不安だから✕』が出たら、必ず引き止めて理由を確認する（この後の実演で解消できる可能性が高い）。
・このシートは最後（ブロック6）でそのまま担当講座リストになるので、回収しない。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【0:33】ここから12分。
・実物の資料を必ず手元に用意しておく（講座資料テキスト・受講者配布物）。
・一緒にページをめくりながら進める。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【0:34】実物を見せながら。
・講座資料のどのページに何が書いてあるかを、指で追って示す。
・別冊の講師台本はない。この資料そのものを読みながら進める形式だと明確に伝える。
・『暗記しなくていい』『見ながら話していい』は、はっきり口に出す。ここで安心感が決まる。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【0:37】
・左右の対比で見せる。特に左（変えてよい）を先に、時間をかけて説明する。
・『実技の種目は差し替えてよい』は今日の中心メッセージなので強調する。
・数値と出典を変えてはいけない理由：県への実績報告と整合が取れなくなるため。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【0:40】
・10講座すべてこの型で作ってあることを伝える。1つ覚えれば他も同じ。
・4の習慣化シートがこの事業の中核。ここを飛ばすと事業として成立しない、と伝える。
・時間が押すのは必ず起きるので、削る順番を先に決めておく。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【0:42】
・3つだけに絞ってある。多く言わない。
・『結論から』は、この後の実演で必ずフィードバックする観点になる。
・診断・治療の線引きは、ブロック5で固定フレーズを渡すと予告する。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【0:45】ここからが本体。30分。
・順番：説明パート（10分）→ 実技パート（12分）→ つなぎ（8分）。
・目的は上手さの確認ではなく、『できそうだ』と本人が思える状態にすること。
・良い点を必ず先に、具体的に伝える。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【0:45-0:55】
・テキストを渡してすぐ始める。考える時間を与えない（それが目的）。
・終わったら、まず必ず『初見でここまで話せれば十分です』と言う。
・指摘は3点まで。多く言わない。優先順位の高いものから1つずつ。
・最後に1分リテイク。改善が見えたらその場ではっきり言葉にする。
・記録シートに、指摘した内容と改善状況を記入する。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【0:55-1:07】
・ここは受講者のホームグラウンド。まずやってもらい、良いところを具体的に褒める。
・フィードバックは技術ではなく、企業研修の制約（服装・靴・スペース・時間）への対応に絞る。
・代替種目が出てこなかった場合は、その場で一緒に考える。
・『この実技をそのまま担当講座で使っていい』と明言する。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【1:07-1:15】
・実技の前後で言葉に詰まる人が多い。型を渡してしまうのが早い。
・声に出して3回言ってもらう。特に3つ目（習慣化シートへのつなぎ）は必ず練習する。
・時間が余ったら、説明→実技→習慣化シートまでを通しで1回やってもらう。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【1:15】ここから9分。
・短いが、事故対応は最も重要。連絡先を書いた1枚を必ず渡す。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【1:15】
・固定フレーズは声に出して1回言ってもらう。
・研修後の個別質疑では、この手の相談が必ず来る。準備しておけば慌てない。
・産業医との事前相談・連携が必要なケース（既往のある方が多い職場など）は事務局が調整する。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【1:18】
・体調確認の声かけは、実演のときにできていたかを振り返って伝える。
・連絡先カードを実際に渡す。
・個人情報：測定結果・健診情報は企業内でも共有範囲に注意。撮影とSNS投稿は禁止、と一言添える。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【1:21】
・アンケート回収と個別質疑は必須なので色を変えてある。ここだけは落とさない。
・遅延・欠席・悪天候時の連絡ルートも口頭で伝える（まず事務局へ）。
・当日の報告方法（様式・提出先）を具体的に伝える。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【1:22】答えを見せる前に、口頭で聞く。
・正解を当てさせるのが目的ではなく、初動を言葉にしてもらうのが目的。
・迷ったら事務局へ、が全ケース共通の答えであることを最後に確認する。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【1:24】
・◎△✕を最終確認する。△は理由を聞いて、その場で◎か✕に振り分ける。
・確定したら担当講座リストに記入・署名してもらい、控えを渡す。
・資料は確定分だけを渡す。ここで全部渡すと今日の設計が台無しになる。
・後から追加できることを必ず伝える（今日決めきれなくてよい）。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【1:26】
・『落とすためのものではない』を最初と最後の2回言う。
・出題範囲を隠さない。〇×5問は今日と同じ問題だと明言する。
・日程を確認して、記録シートに記入する。準備時間が必要な人は間隔を長めに取る。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【1:28-1:30】
・3つの約束を再掲して終わる。冒頭と同じことを言うのが大事。
・質問がないか最後に必ず聞く。
・記録シートの記入漏れがないか確認してから解散する。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講師育成研修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57984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90分でつかむ、研修当日までの準備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632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 令和8年度 健康づくり研修会支援事業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36499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本事業は兵庫県からの受託事業です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9776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B3A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［実施日］　　　　　　　　　［受講者名］　　　　　　　　　［担当者名］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今日、最初にお伝えしたい3つのこと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79192" cy="2788920"/>
          </a:xfrm>
          <a:prstGeom prst="roundRect">
            <a:avLst>
              <a:gd name="adj" fmla="val 2048"/>
            </a:avLst>
          </a:prstGeom>
          <a:solidFill>
            <a:srgbClr val="EAF3EE"/>
          </a:solidFill>
          <a:ln w="12700">
            <a:solidFill>
              <a:srgbClr val="C9DE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463040"/>
            <a:ext cx="457200" cy="45720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94944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94944" y="204825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予習は要りません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670048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今日この場で完結します。事前に読んでおくものはありません。持ち帰って勉強するのは、今日あなたが選んだ講座の分だけです。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55264" y="1234440"/>
            <a:ext cx="2679192" cy="2788920"/>
          </a:xfrm>
          <a:prstGeom prst="roundRect">
            <a:avLst>
              <a:gd name="adj" fmla="val 2048"/>
            </a:avLst>
          </a:prstGeom>
          <a:solidFill>
            <a:srgbClr val="EAF3EE"/>
          </a:solidFill>
          <a:ln w="12700">
            <a:solidFill>
              <a:srgbClr val="C9DE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93008" y="1463040"/>
            <a:ext cx="457200" cy="45720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93008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493008" y="204825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説明パートは資料どおりでOK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493008" y="2670048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各講座の資料（テキスト）が用意されています。ゼロから話を組み立てる必要はありません。テキストを読みながら進められるように作ってあります。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53328" y="1234440"/>
            <a:ext cx="2679192" cy="2788920"/>
          </a:xfrm>
          <a:prstGeom prst="roundRect">
            <a:avLst>
              <a:gd name="adj" fmla="val 2048"/>
            </a:avLst>
          </a:prstGeom>
          <a:solidFill>
            <a:srgbClr val="FCEDE7"/>
          </a:solidFill>
          <a:ln w="12700">
            <a:solidFill>
              <a:srgbClr val="F3C9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91072" y="1463040"/>
            <a:ext cx="457200" cy="45720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91072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91072" y="204825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実技パートはお任せします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291072" y="2670048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あなたの得意分野・普段の指導がそのまま強みになります。種目を指定することはしません。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この3つが今日の前提です。分からないことは、その場で止めて聞いてください。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本日の流れ（90分）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82296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27101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0:00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127101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128930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3つの約束・あなたのことを教えてください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636776"/>
            <a:ext cx="82296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173736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0:05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17373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この事業について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840480" y="175564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県の受託事業としてのルール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103120"/>
            <a:ext cx="82296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220370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0:18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220370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10講座から選ぶ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840480" y="222199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できそうな講座に目星をつける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569464"/>
            <a:ext cx="82296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267004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0:33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26700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講座資料の使い方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840480" y="268833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テキストの読み方・進め方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3035808"/>
            <a:ext cx="8229600" cy="411480"/>
          </a:xfrm>
          <a:prstGeom prst="roundRect">
            <a:avLst>
              <a:gd name="adj" fmla="val 13333"/>
            </a:avLst>
          </a:prstGeom>
          <a:solidFill>
            <a:srgbClr val="FCEDE7"/>
          </a:solidFill>
          <a:ln w="12700">
            <a:solidFill>
              <a:srgbClr val="F3C9B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31363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76F5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0:45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481328" y="313639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やってみる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3840480" y="31546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説明・実技・つなぎを実演（30分）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3502152"/>
            <a:ext cx="82296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8368" y="360273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1:15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481328" y="360273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安全と当日実務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3840480" y="362102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事故を防ぐ・当日の段取り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3968496"/>
            <a:ext cx="82296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8368" y="406908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1:24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481328" y="4069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担当講座を決める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3840480" y="40873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今日の成果物をつくる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45354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いちばん時間を取るのは「やってみる」の30分です。ここが本番です。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874520"/>
            <a:ext cx="786384" cy="786384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74520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874520" y="1847088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この事業について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874520" y="2432304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0:05 - 0:18　県の受託事業としてのルールを押さえる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この事業について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どんな事業か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0233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463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828800"/>
            <a:ext cx="3520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在宅勤務・テレワークの増加で、働く人が体を動かす機会が減っている</a:t>
            </a:r>
            <a:endParaRPr lang="en-US" sz="110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健診で指摘されても、何をすればよいか分からない人が多い</a:t>
            </a:r>
            <a:endParaRPr lang="en-US" sz="110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企業側も「何から手をつければよいか」で止まっている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234440"/>
            <a:ext cx="4023360" cy="2743200"/>
          </a:xfrm>
          <a:prstGeom prst="roundRect">
            <a:avLst>
              <a:gd name="adj" fmla="val 2000"/>
            </a:avLst>
          </a:prstGeom>
          <a:solidFill>
            <a:srgbClr val="EAF3EE"/>
          </a:solidFill>
          <a:ln w="12700">
            <a:solidFill>
              <a:srgbClr val="C9DE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19472" y="1463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この事業がすること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919472" y="1828800"/>
            <a:ext cx="3520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兵庫県内の「健康づくりチャレンジ企業」等が主催する研修会に、専門スタッフを派遣する</a:t>
            </a:r>
            <a:endParaRPr lang="en-US" sz="110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企業の費用負担はゼロ（県の委託事業のため）</a:t>
            </a:r>
            <a:endParaRPr lang="en-US" sz="110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受講者が「明日から実践する行動を1つ決める」ところまで持っていく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1605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私たちは「県から委託を受けた立場」で企業に伺います。ここが民間のレッスンとの一番の違いです。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この事業について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数字で押さえておくこと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975104" cy="2048256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536192"/>
            <a:ext cx="17556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概ね2時間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121408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1回あたりの研修時間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2468880"/>
            <a:ext cx="17190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講座により90分・30分×複数など形式は異なる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42032" y="1280160"/>
            <a:ext cx="1975104" cy="2048256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51760" y="1536192"/>
            <a:ext cx="17556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3回まで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2121408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1社あたりの累計利用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670048" y="2468880"/>
            <a:ext cx="17190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令和6年度以降の通算。企業側の残り回数に注意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26864" y="1280160"/>
            <a:ext cx="1975104" cy="2048256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36592" y="1536192"/>
            <a:ext cx="17556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10講座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4736592" y="2121408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選べるプログラム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2468880"/>
            <a:ext cx="17190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3区分（運動・食生活・健康意識）に分かれる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711696" y="1280160"/>
            <a:ext cx="1975104" cy="2048256"/>
          </a:xfrm>
          <a:prstGeom prst="roundRect">
            <a:avLst>
              <a:gd name="adj" fmla="val 2778"/>
            </a:avLst>
          </a:prstGeom>
          <a:solidFill>
            <a:srgbClr val="FCEDE7"/>
          </a:solidFill>
          <a:ln w="12700">
            <a:solidFill>
              <a:srgbClr val="F3C9B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21424" y="1536192"/>
            <a:ext cx="17556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E76F5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60%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6821424" y="2121408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事業のKPI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839712" y="2468880"/>
            <a:ext cx="17190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週1回以上運動する人の割合（受講者全体）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6027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対象は兵庫県内の「健康づくりチャレンジ企業」等。県下全域が対象で、遠方を理由にお断りすることはできません。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92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集合研修・オンライン研修のどちらでも実施可。研修終了後には必ず個別質疑応答の時間を設けます。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この事業について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絶対に守っていただく3つ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896112"/>
          </a:xfrm>
          <a:prstGeom prst="roundRect">
            <a:avLst>
              <a:gd name="adj" fmla="val 6122"/>
            </a:avLst>
          </a:prstGeom>
          <a:solidFill>
            <a:srgbClr val="FCEDE7"/>
          </a:solidFill>
          <a:ln w="12700">
            <a:solidFill>
              <a:srgbClr val="F3C9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472184"/>
            <a:ext cx="420624" cy="42062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94944" y="14721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98448" y="1380744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お金を受け取らない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98448" y="1691640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受講料・相談料・テキスト代など、派遣先企業や受講者から費用を徴収することは一切できません。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240280"/>
            <a:ext cx="8229600" cy="896112"/>
          </a:xfrm>
          <a:prstGeom prst="roundRect">
            <a:avLst>
              <a:gd name="adj" fmla="val 6122"/>
            </a:avLst>
          </a:prstGeom>
          <a:solidFill>
            <a:srgbClr val="FCEDE7"/>
          </a:solidFill>
          <a:ln w="12700">
            <a:solidFill>
              <a:srgbClr val="F3C9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" y="2478024"/>
            <a:ext cx="420624" cy="42062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" y="2478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98448" y="2386584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営業をしない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98448" y="2697480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自社商品・自社事業の営業、広告宣伝、利益誘導は不可。会社案内やチラシの配布、入会の勧誘もできません。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46120"/>
            <a:ext cx="8229600" cy="896112"/>
          </a:xfrm>
          <a:prstGeom prst="roundRect">
            <a:avLst>
              <a:gd name="adj" fmla="val 6122"/>
            </a:avLst>
          </a:prstGeom>
          <a:solidFill>
            <a:srgbClr val="FCEDE7"/>
          </a:solidFill>
          <a:ln w="12700">
            <a:solidFill>
              <a:srgbClr val="F3C9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" y="3483864"/>
            <a:ext cx="420624" cy="42062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" y="34838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98448" y="3392424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受託事業であることを明記する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298448" y="3703320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配布資料・案内物には、兵庫県からの受託事業である旨を明記します。用意された資料をそのまま使えば問題ありません。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判断に迷ったら、その場で答えずに「確認してご連絡します」で構いません。事務局に必ずご相談ください。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この事業について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アンケートは事務作業ではなく、成果そのものです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960120"/>
          </a:xfrm>
          <a:prstGeom prst="roundRect">
            <a:avLst>
              <a:gd name="adj" fmla="val 5714"/>
            </a:avLst>
          </a:prstGeom>
          <a:solidFill>
            <a:srgbClr val="EAF3EE"/>
          </a:solidFill>
          <a:ln w="12700">
            <a:solidFill>
              <a:srgbClr val="C9DED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417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この事業の成果は「週1回以上運動する人の割合が受講者全体で60%以上」で測られます。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73736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その数字は、みなさんが現場で回収するアンケートから出ています。回収できなければ、どれだけ良い研修をしても成果として残りません。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2679192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656" y="2578608"/>
            <a:ext cx="384048" cy="384048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76656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52144" y="2624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研修の前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" y="305409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開始前に記入してもらう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76656" y="3328416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運動習慣・健康状態の現状を把握する。受付時に配って、開始までに書いてもらうのが確実。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55264" y="2377440"/>
            <a:ext cx="2679192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74720" y="2578608"/>
            <a:ext cx="384048" cy="384048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4747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950208" y="2624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研修の直後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474720" y="305409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その場で回収する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474720" y="3328416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満足度・理解度。持ち帰られると戻ってこない。終了前に回収時間を取る。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053328" y="2377440"/>
            <a:ext cx="2679192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2578608"/>
            <a:ext cx="384048" cy="384048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272784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748272" y="2624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1ヶ月後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272784" y="305409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企業経由で実施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272784" y="3328416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行動が変わったかを確認する。日程は事務局が案内するので、当日「1ヶ月後にもう一度お願いします」と予告しておく。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224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受講者へのひとこと：「この後のアンケートが、来年もこの研修を続けられるかどうかにつながります」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この事業について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確認クイズ（〇か×か）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8229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99032"/>
            <a:ext cx="310896" cy="310896"/>
          </a:xfrm>
          <a:prstGeom prst="ellipse">
            <a:avLst/>
          </a:prstGeom>
          <a:solidFill>
            <a:srgbClr val="EAF3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" y="1399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143560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受講者から実費程度であればテキスト代を受け取ってもよい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138988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E76F5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1901952"/>
            <a:ext cx="8229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2020824"/>
            <a:ext cx="310896" cy="310896"/>
          </a:xfrm>
          <a:prstGeom prst="ellipse">
            <a:avLst/>
          </a:prstGeom>
          <a:solidFill>
            <a:srgbClr val="EAF3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" y="2020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" y="20574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研修の最後に自社のサービス案内を配ってもよい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0" y="201168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E76F5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" y="2523744"/>
            <a:ext cx="8229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2642616"/>
            <a:ext cx="310896" cy="310896"/>
          </a:xfrm>
          <a:prstGeom prst="ellipse">
            <a:avLst/>
          </a:prstGeom>
          <a:solidFill>
            <a:srgbClr val="EAF3E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" y="2642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115568" y="26791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1社あたりの利用は令和6年度以降の通算で3回までである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0" y="263347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〇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57200" y="3145536"/>
            <a:ext cx="8229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3264408"/>
            <a:ext cx="310896" cy="310896"/>
          </a:xfrm>
          <a:prstGeom prst="ellipse">
            <a:avLst/>
          </a:prstGeom>
          <a:solidFill>
            <a:srgbClr val="EAF3E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" y="3264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115568" y="3300984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遠方の企業からの依頼は距離を理由に断ることができる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0" y="325526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E76F5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8229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" y="3886200"/>
            <a:ext cx="310896" cy="310896"/>
          </a:xfrm>
          <a:prstGeom prst="ellipse">
            <a:avLst/>
          </a:prstGeom>
          <a:solidFill>
            <a:srgbClr val="EAF3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3886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115568" y="392277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研修終了後には個別質疑応答の時間を設ける必要がある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0" y="387705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〇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4074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E76F5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この5問は、数日後のチェックでもそのまま出します。ここだけは覚えて帰ってください。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874520"/>
            <a:ext cx="786384" cy="786384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74520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874520" y="1847088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10講座から「できる講座」を選ぶ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874520" y="2432304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0:18 - 0:33　全部を覚える必要はありません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講座を選ぶ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10講座は3つの区分に分かれています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79192" cy="2834640"/>
          </a:xfrm>
          <a:prstGeom prst="roundRect">
            <a:avLst>
              <a:gd name="adj" fmla="val 2048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  <a:effectLst>
            <a:outerShdw sx="100000" sy="100000" kx="0" ky="0" algn="bl" rotWithShape="0" blurRad="76200" dist="12700" dir="5400000">
              <a:srgbClr val="9AA5A0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4944" y="1463040"/>
            <a:ext cx="493776" cy="493776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94944" y="14630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94944" y="20848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運動習慣の定着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67004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講座 1〜3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999232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肩こり・腰痛、姿勢、運動の習慣化。実技の比率が高く、普段の指導がそのまま活きる区分です。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55264" y="1234440"/>
            <a:ext cx="2679192" cy="2834640"/>
          </a:xfrm>
          <a:prstGeom prst="roundRect">
            <a:avLst>
              <a:gd name="adj" fmla="val 2048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  <a:effectLst>
            <a:outerShdw sx="100000" sy="100000" kx="0" ky="0" algn="bl" rotWithShape="0" blurRad="76200" dist="12700" dir="5400000">
              <a:srgbClr val="9AA5A0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93008" y="1463040"/>
            <a:ext cx="493776" cy="493776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93008" y="14630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493008" y="20848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食生活の改善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493008" y="267004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講座 4・5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493008" y="2999232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健診結果、血糖・血圧・脂質、ダイエット。栄養の知識が必要になるため、担当できる方は限られます。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053328" y="1234440"/>
            <a:ext cx="2679192" cy="2834640"/>
          </a:xfrm>
          <a:prstGeom prst="roundRect">
            <a:avLst>
              <a:gd name="adj" fmla="val 2048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  <a:effectLst>
            <a:outerShdw sx="100000" sy="100000" kx="0" ky="0" algn="bl" rotWithShape="0" blurRad="76200" dist="12700" dir="5400000">
              <a:srgbClr val="9AA5A0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91072" y="1463040"/>
            <a:ext cx="493776" cy="493776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91072" y="14630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ウ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291072" y="20848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健康意識向上・行動変容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291072" y="267004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講座 6〜10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291072" y="2999232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体力測定・体成分測定、血圧、ストレス、女性の健康。測定機器を使うもの、説明中心のものが混在します。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224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次の2枚で、10講座を1つずつ見ていきます。「自分にできそうか」だけを考えながら聞いてください。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講座を選ぶ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講座一覧 ①　ア. 運動習慣の定着 ／ イ. 食生活の改善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07008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514600"/>
                <a:gridCol w="1691640"/>
                <a:gridCol w="502920"/>
                <a:gridCol w="31546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講座名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時間・形式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実技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押さえておく知識・準備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D6A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433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デスクワーク疲労を90分でリセット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90分／対面・オンライン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D6A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多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肩こり・腰痛のメカニズム。椅子に座ったままできるセルフケア7種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D6A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433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見た目年齢マイナス5歳！姿勢改善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90分／対面・オンライン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D6A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多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猫背・巻き肩・反り腰の3タイプ判別とタイプ別リセット運動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D6A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433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昼休み15分でルーティン定着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15分×5日／オンライン限定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D6A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多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5日連続の生配信。部位別メニュー（首肩・背中・腰股関節・全身）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D6A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433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健診で引っかからないカラダの作り方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90分／対面・オンライン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76F5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少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健診項目別の改善ポイント、コンビニ・外食の選び方　※栄養知識が必要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D6A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433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もう失敗しないダイエットの成功法則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90分／対面・オンライン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76F5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少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リバウンドの仕組み、食事・運動・睡眠の優先順位　※栄養知識が必要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44805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「実技」＝ 多：体を動かす時間が中心 ／ 中：説明と実技が半々 ／ 少：説明が中心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講座を選ぶ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講座一覧 ②　ウ. 健康意識向上・行動変容促進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8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07008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514600"/>
                <a:gridCol w="1691640"/>
                <a:gridCol w="502920"/>
                <a:gridCol w="31546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講座名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時間・形式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実技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押さえておく知識・準備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D6A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433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まずは知る、カラダ年齢（体力測定）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1人30分／対面のみ・20名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D343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握力・柔軟性・敏捷性・持久力・脚筋力の測定と個別フィードバック　※機器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D6A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433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見えない数値を見える化（体成分測定）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1人30分／対面のみ・20名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D343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体脂肪率・筋肉量・内臓脂肪。測定結果と生活習慣病リスクの関連　※機器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D6A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433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健診で血圧を指摘された方へ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90分／対面・オンライン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D343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血圧が上がる仕組み、減塩・運動・睡眠の3軸、家庭血圧の測り方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D6A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433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対人ストレスに効くメンタルケア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90分／対面・オンライン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D343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ストレス反応と自律神経、呼吸法・姿勢リセット・短時間運動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D6A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433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PMS・更年期に対応するセルフケア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90分／対面・オンライン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D343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女性ホルモンの変動と不調、症状別セルフケア、職場での配慮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44805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講座6・7は測定機器を使うため対面のみ・定員20名。機器の準備と運搬は事務局と事前に調整します。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講座を選ぶ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【ワーク】できそうな講座に印をつけてください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79192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3898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◎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4264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7373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今の知識・経験のままで担当できそう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55264" y="1234440"/>
            <a:ext cx="2679192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38144" y="13898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△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032504" y="14264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要相談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032504" y="17373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興味はあるが、準備や確認が必要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53328" y="1234440"/>
            <a:ext cx="2679192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36208" y="13898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✕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6830568" y="14264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今回は外す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830568" y="17373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今回は担当しない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2450592"/>
            <a:ext cx="8229600" cy="1481328"/>
          </a:xfrm>
          <a:prstGeom prst="roundRect">
            <a:avLst>
              <a:gd name="adj" fmla="val 3704"/>
            </a:avLst>
          </a:prstGeom>
          <a:solidFill>
            <a:srgbClr val="EAF3EE"/>
          </a:solidFill>
          <a:ln w="12700">
            <a:solidFill>
              <a:srgbClr val="C9DED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13232" y="26517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お手元の「講座仕分けシート」に、10講座すべてへ ◎ △ ✕ のいずれかを記入してください。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2980944"/>
            <a:ext cx="7726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 △ で構いません。最後にもう一度見直す時間があります。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◎ が2〜3講座でもまったく問題ありません。得意なものを確実に担当していただく方が、企業にとっても良い研修になります。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「実技はできるが説明が不安」という理由で ✕ にしないでください。説明は講座テキストでカバーできます。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76F5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記入時間：3分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874520"/>
            <a:ext cx="786384" cy="786384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74520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874520" y="1847088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講座資料の使い方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874520" y="2432304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0:33 - 0:45　「机上の説明」の不安をここで解消します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資料の使い方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お渡しする資料はこの2点です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02336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  <a:effectLst>
            <a:outerShdw sx="100000" sy="100000" kx="0" ky="0" algn="bl" rotWithShape="0" blurRad="76200" dist="12700" dir="5400000">
              <a:srgbClr val="9AA5A0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1444752"/>
            <a:ext cx="420624" cy="420624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444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43584" y="149961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講座資料（テキスト）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202996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当日、これを見ながら進めるもの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2340864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話す内容が文章で書かれています。この資料を読みながら進められるように作ってあります。投影しても、手元で読みながら進めても構いません。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63440" y="1234440"/>
            <a:ext cx="402336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  <a:effectLst>
            <a:outerShdw sx="100000" sy="100000" kx="0" ky="0" algn="bl" rotWithShape="0" blurRad="76200" dist="12700" dir="5400000">
              <a:srgbClr val="9AA5A0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919472" y="1444752"/>
            <a:ext cx="420624" cy="420624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919472" y="1444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49824" y="149961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受講者配布物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919472" y="202996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参加者にお渡しするもの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919472" y="2340864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習慣化シート、持ち帰り用のセルフケアガイドなど。配るタイミングは講座資料の中に書いてあります。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65760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CEDE7"/>
          </a:solidFill>
          <a:ln w="12700">
            <a:solidFill>
              <a:srgbClr val="F3C9B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13232" y="38039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テキストは「見ながら話してよい」ものです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409651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暗記する必要はありません。手元に置いて、読みながら進めて構いません。慣れてきたら自分の言葉に変えていってください。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資料の使い方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変えてよいところ、変えてはいけないところ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023360" cy="2834640"/>
          </a:xfrm>
          <a:prstGeom prst="roundRect">
            <a:avLst>
              <a:gd name="adj" fmla="val 1935"/>
            </a:avLst>
          </a:prstGeom>
          <a:solidFill>
            <a:srgbClr val="EAF3EE"/>
          </a:solidFill>
          <a:ln w="12700">
            <a:solidFill>
              <a:srgbClr val="C9DED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44475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変えてよい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874520"/>
            <a:ext cx="3520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実技の種目（あなたの得意なものに差し替えOK）</a:t>
            </a:r>
            <a:endParaRPr lang="en-US" sz="110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例え話・ご自身の経験談</a:t>
            </a:r>
            <a:endParaRPr lang="en-US" sz="110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進行のテンポ、参加者への声かけ</a:t>
            </a:r>
            <a:endParaRPr lang="en-US" sz="110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会場の雰囲気に合わせた言い回し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234440"/>
            <a:ext cx="4023360" cy="2834640"/>
          </a:xfrm>
          <a:prstGeom prst="roundRect">
            <a:avLst>
              <a:gd name="adj" fmla="val 1935"/>
            </a:avLst>
          </a:prstGeom>
          <a:solidFill>
            <a:srgbClr val="FCEDE7"/>
          </a:solidFill>
          <a:ln w="12700">
            <a:solidFill>
              <a:srgbClr val="F3C9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19472" y="144475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E76F5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変えてはいけない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919472" y="1874520"/>
            <a:ext cx="3520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数値と出典（資料に書かれたとおりに話す）</a:t>
            </a:r>
            <a:endParaRPr lang="en-US" sz="110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禁止事項に関わる表現</a:t>
            </a:r>
            <a:endParaRPr lang="en-US" sz="110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習慣化シートの記入（必ず実施する）</a:t>
            </a:r>
            <a:endParaRPr lang="en-US" sz="110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冒頭の「本日のゴール」提示</a:t>
            </a:r>
            <a:endParaRPr lang="en-US" sz="110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終了後の個別質疑応答の時間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迷ったときの基準：「その講座のねらいから外れていないか」。外れていなければ、やり方はお任せします。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資料の使い方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どの講座も、進み方は同じです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1234440" cy="16002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536192"/>
            <a:ext cx="365760" cy="36576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30352" y="2011680"/>
            <a:ext cx="1088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本日のゴール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30352" y="2450592"/>
            <a:ext cx="1088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何ができるようになるかを最初に示す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201168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B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856232" y="1371600"/>
            <a:ext cx="1234440" cy="16002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13432" y="1536192"/>
            <a:ext cx="365760" cy="36576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313432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929384" y="2011680"/>
            <a:ext cx="1088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929384" y="2450592"/>
            <a:ext cx="1088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なぜ大事かを自分ごとにする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3090672" y="201168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B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55264" y="1371600"/>
            <a:ext cx="1234440" cy="16002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12464" y="1536192"/>
            <a:ext cx="365760" cy="36576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712464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328416" y="2011680"/>
            <a:ext cx="1088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実践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328416" y="2450592"/>
            <a:ext cx="1088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デモ → 参加者が実施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489704" y="201168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B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54296" y="1371600"/>
            <a:ext cx="1234440" cy="1600200"/>
          </a:xfrm>
          <a:prstGeom prst="roundRect">
            <a:avLst>
              <a:gd name="adj" fmla="val 4444"/>
            </a:avLst>
          </a:prstGeom>
          <a:solidFill>
            <a:srgbClr val="FCEDE7"/>
          </a:solidFill>
          <a:ln w="12700">
            <a:solidFill>
              <a:srgbClr val="F3C9B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111496" y="1536192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111496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727448" y="2011680"/>
            <a:ext cx="1088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習慣化シート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727448" y="2450592"/>
            <a:ext cx="1088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明日やる行動を1つ決める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5888736" y="201168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B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3328" y="1371600"/>
            <a:ext cx="1234440" cy="16002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10528" y="1536192"/>
            <a:ext cx="365760" cy="36576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510528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0" y="2011680"/>
            <a:ext cx="1088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質疑応答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126480" y="2450592"/>
            <a:ext cx="1088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全体で受ける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7287768" y="201168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B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452360" y="1371600"/>
            <a:ext cx="1234440" cy="1600200"/>
          </a:xfrm>
          <a:prstGeom prst="roundRect">
            <a:avLst>
              <a:gd name="adj" fmla="val 4444"/>
            </a:avLst>
          </a:prstGeom>
          <a:solidFill>
            <a:srgbClr val="FCEDE7"/>
          </a:solidFill>
          <a:ln w="12700">
            <a:solidFill>
              <a:srgbClr val="F3C9B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909560" y="1536192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909560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525512" y="2011680"/>
            <a:ext cx="1088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個別質疑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7525512" y="2450592"/>
            <a:ext cx="1088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終了後に必ず設ける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57200" y="3154680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 w="12700">
            <a:solidFill>
              <a:srgbClr val="C9DED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13232" y="329184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時間が押したとき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713232" y="36210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削ってよい：導入の解説量、実技の種目数、コラム　／　削らない：ゴール提示、習慣化シート、個別質疑応答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資料の使い方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説明パートで守っていただく3つ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508760"/>
            <a:ext cx="420624" cy="420624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94944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98448" y="136245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結論から言う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98448" y="167335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「つまり何をすればよいか」を先に言ってから、理由を説明します。順番が逆になると、聞いている人の集中が切れます。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67335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例：「まず、1日1回立ち上がってください。理由は——」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286000"/>
            <a:ext cx="82296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4944" y="2560320"/>
            <a:ext cx="420624" cy="420624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94944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98448" y="241401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数字は資料のとおりに言う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98448" y="272491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資料に書かれた数値・出典をそのまま使います。うろ覚えの数字を足さないでください。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272491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例：「◯◯調査によると——」と出典まで言い切る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337560"/>
            <a:ext cx="82296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4944" y="3611880"/>
            <a:ext cx="420624" cy="420624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94944" y="3611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98448" y="346557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診断・治療の話はしない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98448" y="377647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症状の原因を断定したり、治療法を助言したりはしません。私たちは医療者ではありません。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377647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詳しい対応は「安全」のパートでお伝えします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この3つさえ守っていただければ、あとは講座テキストのとおりで大丈夫です。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874520"/>
            <a:ext cx="786384" cy="786384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74520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874520" y="1847088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やってみる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874520" y="2432304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0:45 - 1:15　今日の本番です。30分使います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やってみる｜10分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説明パートを、初見で読んでみる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8229600" cy="731520"/>
          </a:xfrm>
          <a:prstGeom prst="roundRect">
            <a:avLst>
              <a:gd name="adj" fmla="val 7500"/>
            </a:avLst>
          </a:prstGeom>
          <a:solidFill>
            <a:srgbClr val="EAF3EE"/>
          </a:solidFill>
          <a:ln w="12700">
            <a:solidFill>
              <a:srgbClr val="C9DED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7772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いま渡した講座テキストの1ページを、3分間そのまま読みながら進めてみてください。準備時間はありません。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40233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22860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なぜ準備なしでやるのか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2633472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本番でも、テキストを見ながら話してよいから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「予習しなくても話せる」と体感してもらうため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うまさを見るためではありません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2103120"/>
            <a:ext cx="40233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19472" y="22860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E76F5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見るのはこの3点だけ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919472" y="2633472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声の大きさとスピード（速すぎないか）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顔を上げるタイミング（ずっと下を向いていないか）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いま資料のどこを話しているかが、相手に分かるか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3分実演 → フィードバック → 同じところをもう1分だけやり直し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やってみる｜12分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実技パートは、あなたのやり方で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FCEDE7"/>
          </a:solidFill>
          <a:ln w="12700">
            <a:solidFill>
              <a:srgbClr val="F3C9B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得意な種目で3〜5分、いつもどおりに指導してみてください。内容は完全にお任せします。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011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お任せするかわりに、この3つだけ守ってください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359152"/>
            <a:ext cx="2679192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656" y="2542032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76656" y="2542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" y="257860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講座のねらいから外れない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76656" y="2980944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肩こりの講座で高強度の全身運動をする、といったズレを避ける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55264" y="2359152"/>
            <a:ext cx="2679192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74720" y="2542032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74720" y="2542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913632" y="257860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座ったままの代替を用意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474720" y="2980944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オフィス・スーツ・革靴・狭いスペースを想定しておく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053328" y="2359152"/>
            <a:ext cx="2679192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542032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72784" y="2542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711696" y="257860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決められた時間に収める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272784" y="2980944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延びると質疑と習慣化シートの時間がなくなる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3639312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EAF3EE"/>
          </a:solidFill>
          <a:ln w="12700">
            <a:solidFill>
              <a:srgbClr val="C9DED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37673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こちらが見るのは、指導のうまさではなく企業研修ならではの次の点です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0599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開始前の体調確認の声かけ　／　座ったままできる代替種目の提示　／　痛みが出たときの中止指示　／　オンライン時のカメラの映り方　／　時間に収まっているか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やってみる｜8分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いちばん崩れやすいのは「つなぎ」です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 → 実技 → 説明 と切り替わる場面の言葉を、先に決めておきます。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17007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 → 実技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1993392"/>
            <a:ext cx="7726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「では、実際にやってみましょう。まず私がやりますので、見ていてください。無理のない範囲で結構です。痛みが出たらすぐにやめてください。」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532888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26609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実技 → 説明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2953512"/>
            <a:ext cx="7726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「はい、ありがとうございます。いま動かしていただいた場所が、なぜ凝りやすいかというと——」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493008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FCEDE7"/>
          </a:solidFill>
          <a:ln w="12700">
            <a:solidFill>
              <a:srgbClr val="F3C9B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323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76F5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実技 → 習慣化シート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3913632"/>
            <a:ext cx="7726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「この中で、明日1つだけやるとしたらどれにしますか。お手元のシートに書いてみてください。」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4480560"/>
            <a:ext cx="8229600" cy="0"/>
          </a:xfrm>
          <a:prstGeom prst="roundRect">
            <a:avLst>
              <a:gd name="adj" fmla="val Infinity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44622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この3つは丸暗記で構いません。困ったときに必ず助けてくれます。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874520"/>
            <a:ext cx="786384" cy="786384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74520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874520" y="1847088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安全と当日実務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874520" y="2432304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1:15 - 1:24　事故を防ぐ。起きたときに正しく動く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安全と実務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私たちは医療者ではありません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CEDE7"/>
          </a:solidFill>
          <a:ln w="12700">
            <a:solidFill>
              <a:srgbClr val="F3C9B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E76F5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してはいけないこと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71907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症状の原因を断定する（診断）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治療法を助言する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服薬や通院についての判断を述べる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207008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EAF3EE"/>
          </a:solidFill>
          <a:ln w="12700">
            <a:solidFill>
              <a:srgbClr val="C9DE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19472" y="13716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できること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919472" y="171907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一般的な知識をお伝えする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無理のない範囲で体を動かしていただく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医療機関・産業医への相談をお勧めする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82296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  <a:effectLst>
            <a:outerShdw sx="100000" sy="100000" kx="0" ky="0" algn="bl" rotWithShape="0" blurRad="76200" dist="12700" dir="5400000">
              <a:srgbClr val="9AA5A0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13232" y="29077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個別の相談を受けたときの言い方（そのまま使ってください）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255264"/>
            <a:ext cx="7726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5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ご心配ですね。ただ、私は医療の専門家ではありませんので、症状についての判断はできません。一度、かかりつけの先生か、会社の産業医の先生にご相談いただくのが確実だと思います。今日お伝えした運動は、痛みが出ない範囲でやってみてください。」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4041648"/>
            <a:ext cx="7726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断るのではなく、適切な相談先につなぐ、という言い方をします。冷たく聞こえないよう、最初に共感の一言を入れます。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安全と実務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始める前の確認と、何かあったときの動き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70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開始前に必ず確認すること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81328"/>
            <a:ext cx="402336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1664208"/>
            <a:ext cx="3520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体調はいかがですか、と声をかける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痛みのある方・妊娠中の方・持病のある方がいないか確認する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その方には座ったままの代替種目を案内する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床・靴・スペース・椅子の安定を目で確認する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無理をしないこと、痛みが出たらすぐやめることを全体に伝える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170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E76F5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急変・けがが起きたとき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481328"/>
            <a:ext cx="4023360" cy="512064"/>
          </a:xfrm>
          <a:prstGeom prst="roundRect">
            <a:avLst>
              <a:gd name="adj" fmla="val 10714"/>
            </a:avLst>
          </a:prstGeom>
          <a:solidFill>
            <a:srgbClr val="FCEDE7"/>
          </a:solidFill>
          <a:ln w="12700">
            <a:solidFill>
              <a:srgbClr val="F3C9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28032" y="1581912"/>
            <a:ext cx="310896" cy="310896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28032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266944" y="16276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すぐに中止し、安全な場所へ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2057400"/>
            <a:ext cx="402336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28032" y="2157984"/>
            <a:ext cx="310896" cy="310896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28032" y="2157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66944" y="22037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企業のご担当者を呼ぶ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2633472"/>
            <a:ext cx="402336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28032" y="2734056"/>
            <a:ext cx="310896" cy="310896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28032" y="2734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266944" y="277977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救急要請が必要か判断する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3209544"/>
            <a:ext cx="402336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28032" y="3310128"/>
            <a:ext cx="310896" cy="310896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28032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66944" y="33558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落ち着いたら事務局へ報告する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88620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AF3EE"/>
          </a:solidFill>
          <a:ln w="12700">
            <a:solidFill>
              <a:srgbClr val="C9DED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3232" y="40416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緊急連絡先を書いた1枚をお渡しします。当日は必ず携行してください。判断に迷ったら、まず電話をください。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安全と実務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当日の流れ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3441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30分前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691640" y="134416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会場入り・接続確認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251960" y="135331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投影・音声・立ち位置を確認。オンラインは接続テストまで済ませる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741932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18790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開始前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18790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受付・事前アンケート配布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188823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開始までに書いてもらう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276856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241401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研修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2414016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講座の実施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242316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資料の型どおりに進行。習慣化シートまで必ず到達する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811780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FCEDE7"/>
          </a:solidFill>
          <a:ln w="12700">
            <a:solidFill>
              <a:srgbClr val="F3C9B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29489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E76F5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終了前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294894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事後アンケートの記入・回収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251960" y="295808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その場で回収する。持ち帰らせない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346704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FCEDE7"/>
          </a:solidFill>
          <a:ln w="12700">
            <a:solidFill>
              <a:srgbClr val="F3C9B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348386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E76F5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終了後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691640" y="348386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個別質疑応答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251960" y="34930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必須。時間を確保しておく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3881628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8368" y="40187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当日中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691640" y="401878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事務局へ実施報告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402793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参加人数・アンケート・気づいた点を報告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498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持ち物：講座資料（テキスト）／受講者配布物／アンケート用紙／緊急連絡先カード／（測定講座の場合）機器一式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安全と実務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こんなときどうしますか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499616"/>
            <a:ext cx="420624" cy="420624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94944" y="149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98448" y="1353312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開始前に「腰が痛い」と申し出があった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98448" y="1682496"/>
            <a:ext cx="7040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無理をしないよう伝え、座ったままできる代替種目を案内する。痛みが強い場合は見学でも構わないと伝える。医療的な判断はしない。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340864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" y="2633472"/>
            <a:ext cx="420624" cy="420624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" y="26334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98448" y="248716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開始5分前、オンラインに接続できない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98448" y="2816352"/>
            <a:ext cx="7040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まず企業のご担当者に連絡し、同時に事務局へ電話。復旧の見込みが立たない場合の代替案（後日振替）は事務局が企業と調整する。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" y="3767328"/>
            <a:ext cx="420624" cy="420624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" y="3767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298448" y="3621024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終了後、個別に治療の相談をされた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298448" y="3950208"/>
            <a:ext cx="7040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共感の一言 → 医療者ではないと伝える → かかりつけ医・産業医への相談を勧める。固定フレーズをそのまま使う。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6. 担当講座を決める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【ワーク】今日の成果物をつくります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EAF3EE"/>
          </a:solidFill>
          <a:ln w="12700">
            <a:solidFill>
              <a:srgbClr val="C9DED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353312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さきほどの仕分けシートを見直して、担当する講座を確定してください。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1993392"/>
            <a:ext cx="2679192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  <a:effectLst>
            <a:outerShdw sx="100000" sy="100000" kx="0" ky="0" algn="bl" rotWithShape="0" blurRad="76200" dist="12700" dir="5400000">
              <a:srgbClr val="9AA5A0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76656" y="2194560"/>
            <a:ext cx="402336" cy="402336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6656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70432" y="22494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◎ を確定する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76656" y="267004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そのまま担当講座になります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55264" y="1993392"/>
            <a:ext cx="2679192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  <a:effectLst>
            <a:outerShdw sx="100000" sy="100000" kx="0" ky="0" algn="bl" rotWithShape="0" blurRad="76200" dist="12700" dir="5400000">
              <a:srgbClr val="9AA5A0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74720" y="2194560"/>
            <a:ext cx="402336" cy="402336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474720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968496" y="22494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△ を決める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474720" y="267004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気になっている点を教えてください。一緒に判断します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053328" y="1993392"/>
            <a:ext cx="2679192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  <a:effectLst>
            <a:outerShdw sx="100000" sy="100000" kx="0" ky="0" algn="bl" rotWithShape="0" blurRad="76200" dist="12700" dir="5400000">
              <a:srgbClr val="9AA5A0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72784" y="2194560"/>
            <a:ext cx="402336" cy="402336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72784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2494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資料をお渡しする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272784" y="267004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確定した講座の資料だけをお渡しします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8229600" cy="1143000"/>
          </a:xfrm>
          <a:prstGeom prst="roundRect">
            <a:avLst>
              <a:gd name="adj" fmla="val 4800"/>
            </a:avLst>
          </a:prstGeom>
          <a:solidFill>
            <a:srgbClr val="FCEDE7"/>
          </a:solidFill>
          <a:ln w="12700">
            <a:solidFill>
              <a:srgbClr val="F3C9B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3232" y="34564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お渡しするのは、選んだ講座の分だけです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13232" y="3767328"/>
            <a:ext cx="7726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10講座すべての資料をお渡しすることはしません。数日後までに読んでいただくのは、いま決めた講座の資料だけです。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078224"/>
            <a:ext cx="7726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あとから講座を追加することもできます。まずは確実にできるものから始めてください。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6. 担当講座を決める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数日後のチェックについて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145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兵庫県健康づくり研修会支援事業　講師育成研修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7914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E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EAF3EE"/>
          </a:solidFill>
          <a:ln w="12700">
            <a:solidFill>
              <a:srgbClr val="C9DED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3167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これは合否を決めるテストではありません。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60934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研修当日までに足りないものがないかを一緒に確認し、必要なサポートを決めるための60分です。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0482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見るのはこの4点（今日お伝えしたことと同じです）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359152"/>
            <a:ext cx="197510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468880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ルールの理解（〇×5問）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42032" y="2359152"/>
            <a:ext cx="197510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633472" y="2468880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説明パートの進行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6864" y="2359152"/>
            <a:ext cx="197510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18304" y="2468880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実技パートの組み立て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11696" y="2359152"/>
            <a:ext cx="197510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03136" y="2468880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安全への対応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9626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結果は、この3つのどれかでお返しします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273552"/>
            <a:ext cx="2679192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  <a:effectLst>
            <a:outerShdw sx="100000" sy="100000" kx="0" ky="0" algn="bl" rotWithShape="0" blurRad="76200" dist="12700" dir="5400000">
              <a:srgbClr val="9AA5A0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6656" y="3456432"/>
            <a:ext cx="402336" cy="402336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76656" y="34564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70432" y="35112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そのまま実施可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" y="39319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単独で担当していただきます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55264" y="3273552"/>
            <a:ext cx="2679192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  <a:effectLst>
            <a:outerShdw sx="100000" sy="100000" kx="0" ky="0" algn="bl" rotWithShape="0" blurRad="76200" dist="12700" dir="5400000">
              <a:srgbClr val="9AA5A0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474720" y="3456432"/>
            <a:ext cx="402336" cy="402336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474720" y="34564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968496" y="35112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補足付きで実施可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474720" y="39319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補足資料・テキストの読み合わせを追加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053328" y="3273552"/>
            <a:ext cx="2679192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E0DB"/>
            </a:solidFill>
            <a:prstDash val="solid"/>
          </a:ln>
          <a:effectLst>
            <a:outerShdw sx="100000" sy="100000" kx="0" ky="0" algn="bl" rotWithShape="0" blurRad="76200" dist="12700" dir="5400000">
              <a:srgbClr val="9AA5A0">
                <a:alpha val="2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72784" y="3456432"/>
            <a:ext cx="402336" cy="402336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272784" y="34564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35112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同行サポート付き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272784" y="39319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2D34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初回だけ同行・オンライン同席します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4443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「担当していただかない」という結果はありません。どう支えれば担当できるかを決めるための確認です。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7498080" cy="658368"/>
          </a:xfrm>
          <a:prstGeom prst="roundRect">
            <a:avLst>
              <a:gd name="adj" fmla="val 8333"/>
            </a:avLst>
          </a:prstGeom>
          <a:solidFill>
            <a:srgbClr val="24523E"/>
          </a:solidFill>
          <a:ln w="12700">
            <a:solidFill>
              <a:srgbClr val="2F6B5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2416" y="1527048"/>
            <a:ext cx="347472" cy="34747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42416" y="1527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536192" y="154533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説明パートは、講座資料（テキスト）のとおりで大丈夫です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121408"/>
            <a:ext cx="7498080" cy="658368"/>
          </a:xfrm>
          <a:prstGeom prst="roundRect">
            <a:avLst>
              <a:gd name="adj" fmla="val 8333"/>
            </a:avLst>
          </a:prstGeom>
          <a:solidFill>
            <a:srgbClr val="24523E"/>
          </a:solidFill>
          <a:ln w="12700">
            <a:solidFill>
              <a:srgbClr val="2F6B5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2416" y="2276856"/>
            <a:ext cx="347472" cy="34747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42416" y="2276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536192" y="2295144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実技パートは、あなたの得意なやり方で構いません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2871216"/>
            <a:ext cx="7498080" cy="658368"/>
          </a:xfrm>
          <a:prstGeom prst="roundRect">
            <a:avLst>
              <a:gd name="adj" fmla="val 8333"/>
            </a:avLst>
          </a:prstGeom>
          <a:solidFill>
            <a:srgbClr val="24523E"/>
          </a:solidFill>
          <a:ln w="12700">
            <a:solidFill>
              <a:srgbClr val="2F6B5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42416" y="3026664"/>
            <a:ext cx="347472" cy="34747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42416" y="3026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536192" y="304495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迷ったら、その場で判断せずに事務局へご連絡ください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7673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2B7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本日はありがとうございました。次回のチェックでお会いしましょう。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2245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3A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 令和8年度 健康づくり研修会支援事業（兵庫県からの受託事業）　　事務局連絡先：［　　　　　　　　　　］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講師育成研修（90分）</dc:title>
  <dc:subject>PptxGenJS Presentation</dc:subject>
  <dc:creator>グンゼスポーツ</dc:creator>
  <cp:lastModifiedBy>グンゼスポーツ</cp:lastModifiedBy>
  <cp:revision>1</cp:revision>
  <dcterms:created xsi:type="dcterms:W3CDTF">2026-09-10T08:37:21Z</dcterms:created>
  <dcterms:modified xsi:type="dcterms:W3CDTF">2026-09-10T08:37:21Z</dcterms:modified>
</cp:coreProperties>
</file>